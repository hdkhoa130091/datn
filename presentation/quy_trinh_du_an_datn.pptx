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2430"/>
                </a:solidFill>
                <a:latin typeface="DejaVu Sans"/>
              </a:rPr>
              <a:t>Quy Trình Thực Hiện Dự Án RL Macro Placement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68680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A6473"/>
                </a:solidFill>
                <a:latin typeface="DejaVu Sans"/>
              </a:rPr>
              <a:t>Từ benchmark MacroPlacement đến huấn luyện RL, đánh giá và kiểm chứng bằng OpenROAD</a:t>
            </a:r>
          </a:p>
        </p:txBody>
      </p:sp>
      <p:pic>
        <p:nvPicPr>
          <p:cNvPr id="4" name="Picture 3" descr="CT_Place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25880"/>
            <a:ext cx="3657600" cy="4160520"/>
          </a:xfrm>
          <a:prstGeom prst="rect">
            <a:avLst/>
          </a:prstGeom>
        </p:spPr>
      </p:pic>
      <p:pic>
        <p:nvPicPr>
          <p:cNvPr id="5" name="Picture 4" descr="Ariane133_ORF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0" y="1325880"/>
            <a:ext cx="3657600" cy="4160520"/>
          </a:xfrm>
          <a:prstGeom prst="rect">
            <a:avLst/>
          </a:prstGeom>
        </p:spPr>
      </p:pic>
      <p:pic>
        <p:nvPicPr>
          <p:cNvPr id="6" name="Picture 5" descr="Human_Gridded_Placem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1325880"/>
            <a:ext cx="3657600" cy="4160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58368" y="5230368"/>
            <a:ext cx="3346704" cy="301752"/>
          </a:xfrm>
          <a:prstGeom prst="roundRect">
            <a:avLst/>
          </a:prstGeom>
          <a:solidFill>
            <a:srgbClr val="BF5B39"/>
          </a:solidFill>
          <a:ln>
            <a:solidFill>
              <a:srgbClr val="BF5B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5248655"/>
            <a:ext cx="334670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DejaVu Sans"/>
              </a:rPr>
              <a:t>Baseline Circuit Training / RL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53128" y="5230368"/>
            <a:ext cx="3346704" cy="301752"/>
          </a:xfrm>
          <a:prstGeom prst="roundRect">
            <a:avLst/>
          </a:prstGeom>
          <a:solidFill>
            <a:srgbClr val="2D6A73"/>
          </a:solidFill>
          <a:ln>
            <a:solidFill>
              <a:srgbClr val="2D6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53128" y="5248655"/>
            <a:ext cx="334670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DejaVu Sans"/>
              </a:rPr>
              <a:t>Placement OpenROAD / ORFS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47888" y="5230368"/>
            <a:ext cx="3346704" cy="301752"/>
          </a:xfrm>
          <a:prstGeom prst="roundRect">
            <a:avLst/>
          </a:prstGeom>
          <a:solidFill>
            <a:srgbClr val="BF5B39"/>
          </a:solidFill>
          <a:ln>
            <a:solidFill>
              <a:srgbClr val="BF5B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47888" y="5248655"/>
            <a:ext cx="334670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DejaVu Sans"/>
              </a:rPr>
              <a:t>Baseline thủ công theo lưới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2430"/>
                </a:solidFill>
                <a:latin typeface="DejaVu Sans"/>
              </a:rPr>
              <a:t>1. Bài toán và benchmark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097280"/>
            <a:ext cx="5623560" cy="1965960"/>
          </a:xfrm>
          <a:prstGeom prst="roundRect">
            <a:avLst/>
          </a:prstGeom>
          <a:solidFill>
            <a:srgbClr val="FFFDF8"/>
          </a:solidFill>
          <a:ln w="15240">
            <a:solidFill>
              <a:srgbClr val="D9C7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5349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D6A73"/>
                </a:solidFill>
                <a:latin typeface="DejaVu Sans"/>
              </a:rPr>
              <a:t>Thiết kế và biểu diễn bài toán</a:t>
            </a:r>
          </a:p>
        </p:txBody>
      </p:sp>
      <p:pic>
        <p:nvPicPr>
          <p:cNvPr id="5" name="Picture 4" descr="macro_exam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17320"/>
            <a:ext cx="5166360" cy="12801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269748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473"/>
                </a:solidFill>
                <a:latin typeface="DejaVu Sans"/>
              </a:rPr>
              <a:t>Ariane133 là benchmark có 133 macro. RL không đặt từng standard cell mà học cách đặt các hard macro lớn trên canvas.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097280"/>
            <a:ext cx="5349240" cy="4617720"/>
          </a:xfrm>
          <a:prstGeom prst="roundRect">
            <a:avLst/>
          </a:prstGeom>
          <a:solidFill>
            <a:srgbClr val="FFFDF8"/>
          </a:solidFill>
          <a:ln w="15240">
            <a:solidFill>
              <a:srgbClr val="D9C7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37960" y="1188720"/>
            <a:ext cx="5074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D6A73"/>
                </a:solidFill>
                <a:latin typeface="DejaVu Sans"/>
              </a:rPr>
              <a:t>Đồ thị kết nối cho RL</a:t>
            </a:r>
          </a:p>
        </p:txBody>
      </p:sp>
      <p:pic>
        <p:nvPicPr>
          <p:cNvPr id="9" name="Picture 8" descr="net_mod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1444752"/>
            <a:ext cx="4892040" cy="34747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629400" y="502920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473"/>
                </a:solidFill>
                <a:latin typeface="DejaVu Sans"/>
              </a:rPr>
              <a:t>Translator của MacroPlacement chuyển netlist / DEF / LEF / metadata sang netlist.pb.txt và initial.plc, là đầu vào trực tiếp cho environment RL.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2430"/>
                </a:solidFill>
                <a:latin typeface="DejaVu Sans"/>
              </a:rPr>
              <a:t>2. Luồng EDA trước khi vào RL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143000"/>
            <a:ext cx="1325880" cy="731520"/>
          </a:xfrm>
          <a:prstGeom prst="roundRect">
            <a:avLst/>
          </a:prstGeom>
          <a:solidFill>
            <a:srgbClr val="BF5B39"/>
          </a:solidFill>
          <a:ln>
            <a:solidFill>
              <a:srgbClr val="BF5B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2344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DejaVu Sans"/>
              </a:rPr>
              <a:t>RTL + SDC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94560" y="1143000"/>
            <a:ext cx="1325880" cy="731520"/>
          </a:xfrm>
          <a:prstGeom prst="roundRect">
            <a:avLst/>
          </a:prstGeom>
          <a:solidFill>
            <a:srgbClr val="2D6A73"/>
          </a:solidFill>
          <a:ln>
            <a:solidFill>
              <a:srgbClr val="2D6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40279" y="1234440"/>
            <a:ext cx="12344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DejaVu Sans"/>
              </a:rPr>
              <a:t>Synthesis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965960" y="1508760"/>
            <a:ext cx="228600" cy="0"/>
          </a:xfrm>
          <a:prstGeom prst="line">
            <a:avLst/>
          </a:prstGeom>
          <a:ln w="25400">
            <a:solidFill>
              <a:srgbClr val="2D6A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749039" y="1143000"/>
            <a:ext cx="1325880" cy="731520"/>
          </a:xfrm>
          <a:prstGeom prst="roundRect">
            <a:avLst/>
          </a:prstGeom>
          <a:solidFill>
            <a:srgbClr val="BF5B39"/>
          </a:solidFill>
          <a:ln>
            <a:solidFill>
              <a:srgbClr val="BF5B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94759" y="1234440"/>
            <a:ext cx="12344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DejaVu Sans"/>
              </a:rPr>
              <a:t>DEF / LEF /
metadata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520439" y="1508760"/>
            <a:ext cx="228600" cy="0"/>
          </a:xfrm>
          <a:prstGeom prst="line">
            <a:avLst/>
          </a:prstGeom>
          <a:ln w="25400">
            <a:solidFill>
              <a:srgbClr val="2D6A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577840" y="1143000"/>
            <a:ext cx="1325880" cy="731520"/>
          </a:xfrm>
          <a:prstGeom prst="roundRect">
            <a:avLst/>
          </a:prstGeom>
          <a:solidFill>
            <a:srgbClr val="2D6A73"/>
          </a:solidFill>
          <a:ln>
            <a:solidFill>
              <a:srgbClr val="2D6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23559" y="1234440"/>
            <a:ext cx="12344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DejaVu Sans"/>
              </a:rPr>
              <a:t>Chuyển đổi định dạng /
translator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074920" y="1508760"/>
            <a:ext cx="502920" cy="0"/>
          </a:xfrm>
          <a:prstGeom prst="line">
            <a:avLst/>
          </a:prstGeom>
          <a:ln w="25400">
            <a:solidFill>
              <a:srgbClr val="2D6A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726679" y="1143000"/>
            <a:ext cx="1325880" cy="731520"/>
          </a:xfrm>
          <a:prstGeom prst="roundRect">
            <a:avLst/>
          </a:prstGeom>
          <a:solidFill>
            <a:srgbClr val="BF5B39"/>
          </a:solidFill>
          <a:ln>
            <a:solidFill>
              <a:srgbClr val="BF5B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0" y="1234440"/>
            <a:ext cx="12344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DejaVu Sans"/>
              </a:rPr>
              <a:t>netlist.pb.txt
initial.plc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903720" y="1508760"/>
            <a:ext cx="822959" cy="0"/>
          </a:xfrm>
          <a:prstGeom prst="line">
            <a:avLst/>
          </a:prstGeom>
          <a:ln w="25400">
            <a:solidFill>
              <a:srgbClr val="2D6A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594360" y="2148840"/>
            <a:ext cx="3977639" cy="3246120"/>
          </a:xfrm>
          <a:prstGeom prst="roundRect">
            <a:avLst/>
          </a:prstGeom>
          <a:solidFill>
            <a:srgbClr val="FFFDF8"/>
          </a:solidFill>
          <a:ln w="15240">
            <a:solidFill>
              <a:srgbClr val="D9C7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2240280"/>
            <a:ext cx="3703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D6A73"/>
                </a:solidFill>
                <a:latin typeface="DejaVu Sans"/>
              </a:rPr>
              <a:t>Baseline placement trước RL</a:t>
            </a:r>
          </a:p>
        </p:txBody>
      </p:sp>
      <p:pic>
        <p:nvPicPr>
          <p:cNvPr id="19" name="Picture 18" descr="Innovus_Flow2_Place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487168"/>
            <a:ext cx="1783080" cy="2331720"/>
          </a:xfrm>
          <a:prstGeom prst="rect">
            <a:avLst/>
          </a:prstGeom>
        </p:spPr>
      </p:pic>
      <p:pic>
        <p:nvPicPr>
          <p:cNvPr id="20" name="Picture 19" descr="Human_Gridded_Placem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7480" y="2487168"/>
            <a:ext cx="1645920" cy="233172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22960" y="489204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473"/>
                </a:solidFill>
                <a:latin typeface="DejaVu Sans"/>
              </a:rPr>
              <a:t>Benchmark đã có sẵn nhiều baseline placement: CMP, CT, manual, OpenROAD RTL-MP. RL học trên dữ liệu đã được chuyển đổi từ flow EDA này.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846320" y="2148840"/>
            <a:ext cx="6903720" cy="3246120"/>
          </a:xfrm>
          <a:prstGeom prst="roundRect">
            <a:avLst/>
          </a:prstGeom>
          <a:solidFill>
            <a:srgbClr val="FFFDF8"/>
          </a:solidFill>
          <a:ln w="15240">
            <a:solidFill>
              <a:srgbClr val="D9C7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983480" y="2240280"/>
            <a:ext cx="6629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D6A73"/>
                </a:solidFill>
                <a:latin typeface="DejaVu Sans"/>
              </a:rPr>
              <a:t>Grouping / gridding và tạo dữ liệu RL</a:t>
            </a:r>
          </a:p>
        </p:txBody>
      </p:sp>
      <p:pic>
        <p:nvPicPr>
          <p:cNvPr id="24" name="Picture 23" descr="Gridding Algorith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920" y="2487168"/>
            <a:ext cx="2331720" cy="2377440"/>
          </a:xfrm>
          <a:prstGeom prst="rect">
            <a:avLst/>
          </a:prstGeom>
        </p:spPr>
      </p:pic>
      <p:pic>
        <p:nvPicPr>
          <p:cNvPr id="25" name="Picture 24" descr="EvaluationFlow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9520" y="2487168"/>
            <a:ext cx="3840480" cy="237744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5120640" y="4892040"/>
            <a:ext cx="6126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473"/>
                </a:solidFill>
                <a:latin typeface="DejaVu Sans"/>
              </a:rPr>
              <a:t>Sau gridding, macro centers được map lên canvas. Output quan trọng nhất cho RL là cặp file netlist.pb.txt và initial.plc.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2430"/>
                </a:solidFill>
                <a:latin typeface="DejaVu Sans"/>
              </a:rPr>
              <a:t>3. Vòng lặp RL macro placement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77240" y="1417320"/>
            <a:ext cx="2011680" cy="822960"/>
          </a:xfrm>
          <a:prstGeom prst="roundRect">
            <a:avLst/>
          </a:prstGeom>
          <a:solidFill>
            <a:srgbClr val="2D6A73"/>
          </a:solidFill>
          <a:ln>
            <a:solidFill>
              <a:srgbClr val="2D6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920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DejaVu Sans"/>
              </a:rPr>
              <a:t>PlacementCost
restore_placement(initial.plc)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154680" y="1417320"/>
            <a:ext cx="2011680" cy="822960"/>
          </a:xfrm>
          <a:prstGeom prst="roundRect">
            <a:avLst/>
          </a:prstGeom>
          <a:solidFill>
            <a:srgbClr val="BF5B39"/>
          </a:solidFill>
          <a:ln>
            <a:solidFill>
              <a:srgbClr val="BF5B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0" y="1508760"/>
            <a:ext cx="1920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DejaVu Sans"/>
              </a:rPr>
              <a:t>Bộ trích xuất đặc trưng
observation_for_node()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532120" y="1417320"/>
            <a:ext cx="1828800" cy="822960"/>
          </a:xfrm>
          <a:prstGeom prst="roundRect">
            <a:avLst/>
          </a:prstGeom>
          <a:solidFill>
            <a:srgbClr val="2D6A73"/>
          </a:solidFill>
          <a:ln>
            <a:solidFill>
              <a:srgbClr val="2D6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577840" y="1508760"/>
            <a:ext cx="1737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DejaVu Sans"/>
              </a:rPr>
              <a:t>Mô hình Actor-Critic
chọn action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80960" y="1417320"/>
            <a:ext cx="1645920" cy="822960"/>
          </a:xfrm>
          <a:prstGeom prst="roundRect">
            <a:avLst/>
          </a:prstGeom>
          <a:solidFill>
            <a:srgbClr val="BF5B39"/>
          </a:solidFill>
          <a:ln>
            <a:solidFill>
              <a:srgbClr val="BF5B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26680" y="1508760"/>
            <a:ext cx="1554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DejaVu Sans"/>
              </a:rPr>
              <a:t>place_node()
đặt macro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46920" y="1417320"/>
            <a:ext cx="1920240" cy="822960"/>
          </a:xfrm>
          <a:prstGeom prst="roundRect">
            <a:avLst/>
          </a:prstGeom>
          <a:solidFill>
            <a:srgbClr val="2D6A73"/>
          </a:solidFill>
          <a:ln>
            <a:solidFill>
              <a:srgbClr val="2D6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92640" y="1508760"/>
            <a:ext cx="1828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DejaVu Sans"/>
              </a:rPr>
              <a:t>reward / cost
wirelength, density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788920" y="1828800"/>
            <a:ext cx="365760" cy="0"/>
          </a:xfrm>
          <a:prstGeom prst="line">
            <a:avLst/>
          </a:prstGeom>
          <a:ln w="25400">
            <a:solidFill>
              <a:srgbClr val="2D6A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166360" y="1828800"/>
            <a:ext cx="365760" cy="0"/>
          </a:xfrm>
          <a:prstGeom prst="line">
            <a:avLst/>
          </a:prstGeom>
          <a:ln w="25400">
            <a:solidFill>
              <a:srgbClr val="2D6A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360920" y="1828800"/>
            <a:ext cx="320040" cy="0"/>
          </a:xfrm>
          <a:prstGeom prst="line">
            <a:avLst/>
          </a:prstGeom>
          <a:ln w="25400">
            <a:solidFill>
              <a:srgbClr val="2D6A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9326880" y="1828800"/>
            <a:ext cx="320040" cy="0"/>
          </a:xfrm>
          <a:prstGeom prst="line">
            <a:avLst/>
          </a:prstGeom>
          <a:ln w="25400">
            <a:solidFill>
              <a:srgbClr val="2D6A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3840480" y="2971800"/>
            <a:ext cx="1737360" cy="777240"/>
          </a:xfrm>
          <a:prstGeom prst="roundRect">
            <a:avLst/>
          </a:prstGeom>
          <a:solidFill>
            <a:srgbClr val="BF5B39"/>
          </a:solidFill>
          <a:ln>
            <a:solidFill>
              <a:srgbClr val="BF5B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86200" y="3063240"/>
            <a:ext cx="164591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DejaVu Sans"/>
              </a:rPr>
              <a:t>rollout buffer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80760" y="2743200"/>
            <a:ext cx="2331720" cy="1234440"/>
          </a:xfrm>
          <a:prstGeom prst="roundRect">
            <a:avLst/>
          </a:prstGeom>
          <a:solidFill>
            <a:srgbClr val="2D6A73"/>
          </a:solidFill>
          <a:ln>
            <a:solidFill>
              <a:srgbClr val="2D6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80" y="2834640"/>
            <a:ext cx="224027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DejaVu Sans"/>
              </a:rPr>
              <a:t>Cập nhật PPO
compute returns / advantages
optimizer.step()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0607040" y="2240280"/>
            <a:ext cx="0" cy="1097280"/>
          </a:xfrm>
          <a:prstGeom prst="line">
            <a:avLst/>
          </a:prstGeom>
          <a:ln w="25400">
            <a:solidFill>
              <a:srgbClr val="2D6A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8412480" y="3337560"/>
            <a:ext cx="1600200" cy="0"/>
          </a:xfrm>
          <a:prstGeom prst="line">
            <a:avLst/>
          </a:prstGeom>
          <a:ln w="25400">
            <a:solidFill>
              <a:srgbClr val="2D6A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5577840" y="3337560"/>
            <a:ext cx="502920" cy="0"/>
          </a:xfrm>
          <a:prstGeom prst="line">
            <a:avLst/>
          </a:prstGeom>
          <a:ln w="25400">
            <a:solidFill>
              <a:srgbClr val="2D6A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269480" y="3977639"/>
            <a:ext cx="0" cy="731521"/>
          </a:xfrm>
          <a:prstGeom prst="line">
            <a:avLst/>
          </a:prstGeom>
          <a:ln w="25400">
            <a:solidFill>
              <a:srgbClr val="2D6A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989320" y="4736592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A6473"/>
                </a:solidFill>
                <a:latin typeface="DejaVu Sans"/>
              </a:rPr>
              <a:t>episode = đặt xong một lượt macro</a:t>
            </a:r>
          </a:p>
        </p:txBody>
      </p:sp>
      <p:cxnSp>
        <p:nvCxnSpPr>
          <p:cNvPr id="26" name="Connector 25"/>
          <p:cNvCxnSpPr/>
          <p:nvPr/>
        </p:nvCxnSpPr>
        <p:spPr>
          <a:xfrm flipH="1">
            <a:off x="4206240" y="4617720"/>
            <a:ext cx="3063240" cy="0"/>
          </a:xfrm>
          <a:prstGeom prst="line">
            <a:avLst/>
          </a:prstGeom>
          <a:ln w="25400">
            <a:solidFill>
              <a:srgbClr val="2D6A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4206240" y="2240280"/>
            <a:ext cx="0" cy="2377440"/>
          </a:xfrm>
          <a:prstGeom prst="line">
            <a:avLst/>
          </a:prstGeom>
          <a:ln w="25400">
            <a:solidFill>
              <a:srgbClr val="2D6A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868680" y="516636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6473"/>
                </a:solidFill>
                <a:latin typeface="DejaVu Sans"/>
              </a:rPr>
              <a:t>Sau vài episode (rollout_episodes), PPO mới cập nhật trọng số. Kết quả train là model .pt, history .csv và summary .json.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2430"/>
                </a:solidFill>
                <a:latin typeface="DejaVu Sans"/>
              </a:rPr>
              <a:t>4. Hạ tầng thực nghiệm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325880"/>
            <a:ext cx="5212080" cy="3977639"/>
          </a:xfrm>
          <a:prstGeom prst="roundRect">
            <a:avLst/>
          </a:prstGeom>
          <a:solidFill>
            <a:srgbClr val="FFFDF8"/>
          </a:solidFill>
          <a:ln w="15240">
            <a:solidFill>
              <a:srgbClr val="D9C7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D6A73"/>
                </a:solidFill>
                <a:latin typeface="DejaVu Sans"/>
              </a:rPr>
              <a:t>Server GPU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1560" y="1828800"/>
            <a:ext cx="1554480" cy="685800"/>
          </a:xfrm>
          <a:prstGeom prst="roundRect">
            <a:avLst/>
          </a:prstGeom>
          <a:solidFill>
            <a:srgbClr val="BF5B39"/>
          </a:solidFill>
          <a:ln>
            <a:solidFill>
              <a:srgbClr val="BF5B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920240"/>
            <a:ext cx="14630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DejaVu Sans"/>
              </a:rPr>
              <a:t>Git clone DATN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360" y="1828800"/>
            <a:ext cx="1828800" cy="685800"/>
          </a:xfrm>
          <a:prstGeom prst="roundRect">
            <a:avLst/>
          </a:prstGeom>
          <a:solidFill>
            <a:srgbClr val="2D6A73"/>
          </a:solidFill>
          <a:ln>
            <a:solidFill>
              <a:srgbClr val="2D6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26079" y="192024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DejaVu Sans"/>
              </a:rPr>
              <a:t>Train PPO trên CUDA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51560" y="2834640"/>
            <a:ext cx="1554480" cy="822960"/>
          </a:xfrm>
          <a:prstGeom prst="roundRect">
            <a:avLst/>
          </a:prstGeom>
          <a:solidFill>
            <a:srgbClr val="2D6A73"/>
          </a:solidFill>
          <a:ln>
            <a:solidFill>
              <a:srgbClr val="2D6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926080"/>
            <a:ext cx="146303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DejaVu Sans"/>
              </a:rPr>
              <a:t>Evaluate
sinh final.plc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80360" y="2834640"/>
            <a:ext cx="1828800" cy="822960"/>
          </a:xfrm>
          <a:prstGeom prst="roundRect">
            <a:avLst/>
          </a:prstGeom>
          <a:solidFill>
            <a:srgbClr val="BF5B39"/>
          </a:solidFill>
          <a:ln>
            <a:solidFill>
              <a:srgbClr val="BF5B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26079" y="2926080"/>
            <a:ext cx="1737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DejaVu Sans"/>
              </a:rPr>
              <a:t>Output:
.pt / .plc / .json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06040" y="2167128"/>
            <a:ext cx="274320" cy="0"/>
          </a:xfrm>
          <a:prstGeom prst="line">
            <a:avLst/>
          </a:prstGeom>
          <a:ln w="25400">
            <a:solidFill>
              <a:srgbClr val="2D6A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3794760" y="2514600"/>
            <a:ext cx="0" cy="320040"/>
          </a:xfrm>
          <a:prstGeom prst="line">
            <a:avLst/>
          </a:prstGeom>
          <a:ln w="25400">
            <a:solidFill>
              <a:srgbClr val="2D6A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606040" y="3246120"/>
            <a:ext cx="274320" cy="0"/>
          </a:xfrm>
          <a:prstGeom prst="line">
            <a:avLst/>
          </a:prstGeom>
          <a:ln w="25400">
            <a:solidFill>
              <a:srgbClr val="2D6A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914400" y="4160520"/>
            <a:ext cx="4480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473"/>
                </a:solidFill>
                <a:latin typeface="DejaVu Sans"/>
              </a:rPr>
              <a:t>Server được dùng cho tính toán nặng: train và eval policy. Không cần GUI OpenROAD tại đây.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1325880"/>
            <a:ext cx="5029200" cy="3977639"/>
          </a:xfrm>
          <a:prstGeom prst="roundRect">
            <a:avLst/>
          </a:prstGeom>
          <a:solidFill>
            <a:srgbClr val="FFFDF8"/>
          </a:solidFill>
          <a:ln w="15240">
            <a:solidFill>
              <a:srgbClr val="D9C7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141732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D6A73"/>
                </a:solidFill>
                <a:latin typeface="DejaVu Sans"/>
              </a:rPr>
              <a:t>Máy local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12280" y="1828800"/>
            <a:ext cx="1554480" cy="685800"/>
          </a:xfrm>
          <a:prstGeom prst="roundRect">
            <a:avLst/>
          </a:prstGeom>
          <a:solidFill>
            <a:srgbClr val="BF5B39"/>
          </a:solidFill>
          <a:ln>
            <a:solidFill>
              <a:srgbClr val="BF5B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0" y="1920240"/>
            <a:ext cx="14630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DejaVu Sans"/>
              </a:rPr>
              <a:t>Nhận kết quả
bằng scp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641080" y="1828800"/>
            <a:ext cx="1554480" cy="685800"/>
          </a:xfrm>
          <a:prstGeom prst="roundRect">
            <a:avLst/>
          </a:prstGeom>
          <a:solidFill>
            <a:srgbClr val="2D6A73"/>
          </a:solidFill>
          <a:ln>
            <a:solidFill>
              <a:srgbClr val="2D6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0" y="1920240"/>
            <a:ext cx="14630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DejaVu Sans"/>
              </a:rPr>
              <a:t>OpenROAD GUI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12280" y="2834640"/>
            <a:ext cx="1554480" cy="822960"/>
          </a:xfrm>
          <a:prstGeom prst="roundRect">
            <a:avLst/>
          </a:prstGeom>
          <a:solidFill>
            <a:srgbClr val="2D6A73"/>
          </a:solidFill>
          <a:ln>
            <a:solidFill>
              <a:srgbClr val="2D6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0" y="2926080"/>
            <a:ext cx="146303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DejaVu Sans"/>
              </a:rPr>
              <a:t>So sánh với
initial / legalized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641080" y="2834640"/>
            <a:ext cx="1554480" cy="822960"/>
          </a:xfrm>
          <a:prstGeom prst="roundRect">
            <a:avLst/>
          </a:prstGeom>
          <a:solidFill>
            <a:srgbClr val="BF5B39"/>
          </a:solidFill>
          <a:ln>
            <a:solidFill>
              <a:srgbClr val="BF5B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0" y="2926080"/>
            <a:ext cx="146303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DejaVu Sans"/>
              </a:rPr>
              <a:t>Kiểm chứng
EDA cuối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366760" y="2167128"/>
            <a:ext cx="274320" cy="0"/>
          </a:xfrm>
          <a:prstGeom prst="line">
            <a:avLst/>
          </a:prstGeom>
          <a:ln w="25400">
            <a:solidFill>
              <a:srgbClr val="2D6A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9418320" y="2514600"/>
            <a:ext cx="0" cy="320040"/>
          </a:xfrm>
          <a:prstGeom prst="line">
            <a:avLst/>
          </a:prstGeom>
          <a:ln w="25400">
            <a:solidFill>
              <a:srgbClr val="2D6A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8366760" y="3246120"/>
            <a:ext cx="274320" cy="0"/>
          </a:xfrm>
          <a:prstGeom prst="line">
            <a:avLst/>
          </a:prstGeom>
          <a:ln w="25400">
            <a:solidFill>
              <a:srgbClr val="2D6A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720840" y="4160520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473"/>
                </a:solidFill>
                <a:latin typeface="DejaVu Sans"/>
              </a:rPr>
              <a:t>Máy local phù hợp cho OpenROAD, GUI và phần so sánh placement với benchmark gốc.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2430"/>
                </a:solidFill>
                <a:latin typeface="DejaVu Sans"/>
              </a:rPr>
              <a:t>5. Kết quả pipeline hiện tại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234440"/>
            <a:ext cx="5440680" cy="4251960"/>
          </a:xfrm>
          <a:prstGeom prst="roundRect">
            <a:avLst/>
          </a:prstGeom>
          <a:solidFill>
            <a:srgbClr val="FFFDF8"/>
          </a:solidFill>
          <a:ln w="15240">
            <a:solidFill>
              <a:srgbClr val="D9C7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5166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D6A73"/>
                </a:solidFill>
                <a:latin typeface="DejaVu Sans"/>
              </a:rPr>
              <a:t>Kiểm chứng pipeline</a:t>
            </a:r>
          </a:p>
        </p:txBody>
      </p:sp>
      <p:pic>
        <p:nvPicPr>
          <p:cNvPr id="5" name="Picture 4" descr="CT_Place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600200"/>
            <a:ext cx="2011680" cy="2240280"/>
          </a:xfrm>
          <a:prstGeom prst="rect">
            <a:avLst/>
          </a:prstGeom>
        </p:spPr>
      </p:pic>
      <p:pic>
        <p:nvPicPr>
          <p:cNvPr id="6" name="Picture 5" descr="Ariane133_ORF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4680" y="1600200"/>
            <a:ext cx="2697480" cy="22402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402336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6473"/>
                </a:solidFill>
                <a:latin typeface="DejaVu Sans"/>
              </a:rPr>
              <a:t>Đã hoàn thành đường đi full pipeline: train trên GPU server -&gt; evaluate -&gt; sinh alphachip_like_final.plc -&gt; kéo về local để phân tích.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234440"/>
            <a:ext cx="5074920" cy="4251960"/>
          </a:xfrm>
          <a:prstGeom prst="roundRect">
            <a:avLst/>
          </a:prstGeom>
          <a:solidFill>
            <a:srgbClr val="FFFDF8"/>
          </a:solidFill>
          <a:ln w="15240">
            <a:solidFill>
              <a:srgbClr val="D9C7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1325880"/>
            <a:ext cx="4800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D6A73"/>
                </a:solidFill>
                <a:latin typeface="DejaVu Sans"/>
              </a:rPr>
              <a:t>Số liệu run gần nhất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20840" y="164592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D6A73"/>
                </a:solidFill>
                <a:latin typeface="DejaVu Sans"/>
              </a:rPr>
              <a:t>Initial cost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0" y="1645920"/>
            <a:ext cx="2148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2430"/>
                </a:solidFill>
                <a:latin typeface="DejaVu Sans"/>
              </a:rPr>
              <a:t>0.049722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20840" y="2029968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D6A73"/>
                </a:solidFill>
                <a:latin typeface="DejaVu Sans"/>
              </a:rPr>
              <a:t>Final cost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0" y="2029968"/>
            <a:ext cx="2148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2430"/>
                </a:solidFill>
                <a:latin typeface="DejaVu Sans"/>
              </a:rPr>
              <a:t>0.053016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0840" y="2414016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D6A73"/>
                </a:solidFill>
                <a:latin typeface="DejaVu Sans"/>
              </a:rPr>
              <a:t>Best cost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0" y="2414016"/>
            <a:ext cx="2148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2430"/>
                </a:solidFill>
                <a:latin typeface="DejaVu Sans"/>
              </a:rPr>
              <a:t>0.053016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20840" y="2798064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D6A73"/>
                </a:solidFill>
                <a:latin typeface="DejaVu Sans"/>
              </a:rPr>
              <a:t>Wirelength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0" y="2798064"/>
            <a:ext cx="2148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2430"/>
                </a:solidFill>
                <a:latin typeface="DejaVu Sans"/>
              </a:rPr>
              <a:t>3432497.830789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20840" y="318211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D6A73"/>
                </a:solidFill>
                <a:latin typeface="DejaVu Sans"/>
              </a:rPr>
              <a:t>Steps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0" y="3182112"/>
            <a:ext cx="2148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2430"/>
                </a:solidFill>
                <a:latin typeface="DejaVu Sans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0840" y="356616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D6A73"/>
                </a:solidFill>
                <a:latin typeface="DejaVu Sans"/>
              </a:rPr>
              <a:t>Runtime (s)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0" y="3566160"/>
            <a:ext cx="2148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2430"/>
                </a:solidFill>
                <a:latin typeface="DejaVu Sans"/>
              </a:rPr>
              <a:t>0.527584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0840" y="4160520"/>
            <a:ext cx="4343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473"/>
                </a:solidFill>
                <a:latin typeface="DejaVu Sans"/>
              </a:rPr>
              <a:t>Run này chủ yếu là smoke test: pipeline đúng, nhưng final cost chưa tốt hơn baseline initial.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2430"/>
                </a:solidFill>
                <a:latin typeface="DejaVu Sans"/>
              </a:rPr>
              <a:t>6. Bước tiếp theo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508760"/>
            <a:ext cx="2057400" cy="914400"/>
          </a:xfrm>
          <a:prstGeom prst="roundRect">
            <a:avLst/>
          </a:prstGeom>
          <a:solidFill>
            <a:srgbClr val="BF5B39"/>
          </a:solidFill>
          <a:ln>
            <a:solidFill>
              <a:srgbClr val="BF5B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600200"/>
            <a:ext cx="1965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DejaVu Sans"/>
              </a:rPr>
              <a:t>Tăng episodes /
rollout_episodes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83280" y="1508760"/>
            <a:ext cx="2057400" cy="914400"/>
          </a:xfrm>
          <a:prstGeom prst="roundRect">
            <a:avLst/>
          </a:prstGeom>
          <a:solidFill>
            <a:srgbClr val="2D6A73"/>
          </a:solidFill>
          <a:ln>
            <a:solidFill>
              <a:srgbClr val="2D6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429000" y="1600200"/>
            <a:ext cx="1965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DejaVu Sans"/>
              </a:rPr>
              <a:t>Chạy nhiều seed
và gom metrics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52160" y="1508760"/>
            <a:ext cx="2057400" cy="914400"/>
          </a:xfrm>
          <a:prstGeom prst="roundRect">
            <a:avLst/>
          </a:prstGeom>
          <a:solidFill>
            <a:srgbClr val="BF5B39"/>
          </a:solidFill>
          <a:ln>
            <a:solidFill>
              <a:srgbClr val="BF5B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97880" y="1600200"/>
            <a:ext cx="1965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DejaVu Sans"/>
              </a:rPr>
              <a:t>So với initial.plc /
legalized.plc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21040" y="1508760"/>
            <a:ext cx="2057400" cy="914400"/>
          </a:xfrm>
          <a:prstGeom prst="roundRect">
            <a:avLst/>
          </a:prstGeom>
          <a:solidFill>
            <a:srgbClr val="2D6A73"/>
          </a:solidFill>
          <a:ln>
            <a:solidFill>
              <a:srgbClr val="2D6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66760" y="1600200"/>
            <a:ext cx="1965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DejaVu Sans"/>
              </a:rPr>
              <a:t>Convert về Tcl / DEF
cho OpenROAD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971800" y="1965960"/>
            <a:ext cx="411480" cy="0"/>
          </a:xfrm>
          <a:prstGeom prst="line">
            <a:avLst/>
          </a:prstGeom>
          <a:ln w="25400">
            <a:solidFill>
              <a:srgbClr val="2D6A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440680" y="1965960"/>
            <a:ext cx="411480" cy="0"/>
          </a:xfrm>
          <a:prstGeom prst="line">
            <a:avLst/>
          </a:prstGeom>
          <a:ln w="25400">
            <a:solidFill>
              <a:srgbClr val="2D6A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909560" y="1965960"/>
            <a:ext cx="411480" cy="0"/>
          </a:xfrm>
          <a:prstGeom prst="line">
            <a:avLst/>
          </a:prstGeom>
          <a:ln w="25400">
            <a:solidFill>
              <a:srgbClr val="2D6A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68680" y="2788920"/>
            <a:ext cx="10332720" cy="2240280"/>
          </a:xfrm>
          <a:prstGeom prst="roundRect">
            <a:avLst/>
          </a:prstGeom>
          <a:solidFill>
            <a:srgbClr val="FFFDF8"/>
          </a:solidFill>
          <a:ln w="15240">
            <a:solidFill>
              <a:srgbClr val="D9C7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39" y="28803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D6A73"/>
                </a:solidFill>
                <a:latin typeface="DejaVu Sans"/>
              </a:rPr>
              <a:t>Thông điệp chính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3246120"/>
            <a:ext cx="9784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1F2430"/>
                </a:solidFill>
                <a:latin typeface="DejaVu Sans"/>
              </a:rPr>
              <a:t>Giá trị của dự án hiện tại là đã thông được toàn bộ quy trình: benchmark MacroPlacement -&gt; format RL -&gt; train PPO -&gt; evaluate -&gt; final.plc -&gt; phân tích bằng OpenROAD.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06908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5A6473"/>
                </a:solidFill>
                <a:latin typeface="DejaVu Sans"/>
              </a:rPr>
              <a:t>Từ đây, công việc chính là nâng chất lượng học: train lâu hơn, so sánh nhiều baseline hơn, và đưa placement RL quay lại flow EDA để kiểm chứng QoR.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